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029200" y="7498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災情分類與應變建議系統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Classification &amp; Response Advisory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295144" cy="292608"/>
          </a:xfrm>
          <a:prstGeom prst="rect">
            <a:avLst/>
          </a:prstGeom>
          <a:solidFill>
            <a:srgbClr val="38BDF8">
              <a:alpha val="22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11 | Sustainable Cities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08376" y="2514600"/>
            <a:ext cx="2002536" cy="292608"/>
          </a:xfrm>
          <a:prstGeom prst="rect">
            <a:avLst/>
          </a:prstGeom>
          <a:solidFill>
            <a:srgbClr val="4ADE80">
              <a:alpha val="22000"/>
            </a:srgbClr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8376" y="25146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13 | Climate 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75504" y="2514600"/>
            <a:ext cx="1929384" cy="292608"/>
          </a:xfrm>
          <a:prstGeom prst="rect">
            <a:avLst/>
          </a:prstGeom>
          <a:solidFill>
            <a:srgbClr val="FBBF24">
              <a:alpha val="22000"/>
            </a:srgbClr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5504" y="251460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+ MLOps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804672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Final Report  |  June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572768" cy="777240"/>
          </a:xfrm>
          <a:prstGeom prst="rect">
            <a:avLst/>
          </a:prstGeom>
          <a:solidFill>
            <a:srgbClr val="263044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027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986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31136" y="3566160"/>
            <a:ext cx="1572768" cy="777240"/>
          </a:xfrm>
          <a:prstGeom prst="rect">
            <a:avLst/>
          </a:prstGeom>
          <a:solidFill>
            <a:srgbClr val="263044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31136" y="36027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31136" y="3986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13632" y="3566160"/>
            <a:ext cx="1572768" cy="777240"/>
          </a:xfrm>
          <a:prstGeom prst="rect">
            <a:avLst/>
          </a:prstGeom>
          <a:solidFill>
            <a:srgbClr val="263044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36027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13632" y="3986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Hexagonal GIS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96128" y="3566160"/>
            <a:ext cx="1572768" cy="777240"/>
          </a:xfrm>
          <a:prstGeom prst="rect">
            <a:avLst/>
          </a:prstGeom>
          <a:solidFill>
            <a:srgbClr val="263044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36027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96128" y="3986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+ Gemini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78624" y="3566160"/>
            <a:ext cx="1572768" cy="777240"/>
          </a:xfrm>
          <a:prstGeom prst="rect">
            <a:avLst/>
          </a:prstGeom>
          <a:solidFill>
            <a:srgbClr val="263044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36027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78624" y="3986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SDG Alignment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 faces ~4 typhoons, multiple earthquakes, and flooding events every year
</a:t>
            </a:r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lack a fast, AI-powered tool to classify disasters and receive immediate guidance
</a:t>
            </a:r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managers cannot aggregate scattered citizen reports into a spatial picture in real-time
</a:t>
            </a:r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triage increases harm — the first 30 minutes of disaster response are critical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12080" y="822960"/>
            <a:ext cx="3566160" cy="1554480"/>
          </a:xfrm>
          <a:prstGeom prst="rect">
            <a:avLst/>
          </a:prstGeom>
          <a:solidFill>
            <a:srgbClr val="0C2340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0" y="822960"/>
            <a:ext cx="3566160" cy="347472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21808" y="84124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11 — Sustainable Cities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21808" y="1234440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rapid urban disaster reporting and response coordination, reducing harm in dense communities through AI-powered triage and spatial event aggregation.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2514600"/>
            <a:ext cx="3566160" cy="1554480"/>
          </a:xfrm>
          <a:prstGeom prst="rect">
            <a:avLst/>
          </a:prstGeom>
          <a:solidFill>
            <a:srgbClr val="0C2312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2514600"/>
            <a:ext cx="3566160" cy="347472"/>
          </a:xfrm>
          <a:prstGeom prst="rect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253288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13 — Climate Action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21808" y="2926080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the growing frequency of climate-driven disasters — typhoons, floods, and landslides — through AI-assisted classification and data-driven response guidance.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54964" y="804672"/>
            <a:ext cx="1325880" cy="658368"/>
          </a:xfrm>
          <a:prstGeom prst="rect">
            <a:avLst/>
          </a:prstGeom>
          <a:solidFill>
            <a:srgbClr val="94A3B8">
              <a:alpha val="22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" y="80467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80844" y="9875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82012" y="804672"/>
            <a:ext cx="1325880" cy="658368"/>
          </a:xfrm>
          <a:prstGeom prst="rect">
            <a:avLst/>
          </a:prstGeom>
          <a:solidFill>
            <a:srgbClr val="4ADE80">
              <a:alpha val="22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82012" y="80467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07892" y="9875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09060" y="804672"/>
            <a:ext cx="1325880" cy="658368"/>
          </a:xfrm>
          <a:prstGeom prst="rect">
            <a:avLst/>
          </a:prstGeom>
          <a:solidFill>
            <a:srgbClr val="FBBF24">
              <a:alpha val="22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09060" y="80467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34940" y="9875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36108" y="804672"/>
            <a:ext cx="1325880" cy="658368"/>
          </a:xfrm>
          <a:prstGeom prst="rect">
            <a:avLst/>
          </a:prstGeom>
          <a:solidFill>
            <a:srgbClr val="38BDF8">
              <a:alpha val="22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6108" y="80467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1988" y="9875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63156" y="804672"/>
            <a:ext cx="1325880" cy="658368"/>
          </a:xfrm>
          <a:prstGeom prst="rect">
            <a:avLst/>
          </a:prstGeom>
          <a:solidFill>
            <a:srgbClr val="C084FC">
              <a:alpha val="22000"/>
            </a:srgbClr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3156" y="80467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0" y="1737360"/>
            <a:ext cx="1371600" cy="502920"/>
          </a:xfrm>
          <a:prstGeom prst="rect">
            <a:avLst/>
          </a:prstGeom>
          <a:solidFill>
            <a:srgbClr val="38BDF8">
              <a:alpha val="2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89320" y="2249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03320" y="2496312"/>
            <a:ext cx="1371600" cy="502920"/>
          </a:xfrm>
          <a:prstGeom prst="rect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496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258775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2496312"/>
            <a:ext cx="1371600" cy="502920"/>
          </a:xfrm>
          <a:prstGeom prst="rect">
            <a:avLst/>
          </a:prstGeom>
          <a:solidFill>
            <a:srgbClr val="4ADE80">
              <a:alpha val="2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496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258775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03720" y="2496312"/>
            <a:ext cx="1371600" cy="502920"/>
          </a:xfrm>
          <a:prstGeom prst="rect">
            <a:avLst/>
          </a:prstGeom>
          <a:solidFill>
            <a:srgbClr val="C084FC">
              <a:alpha val="20000"/>
            </a:srgbClr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496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4251960"/>
            <a:ext cx="2011680" cy="566928"/>
          </a:xfrm>
          <a:prstGeom prst="rect">
            <a:avLst/>
          </a:prstGeom>
          <a:solidFill>
            <a:srgbClr val="38BDF8">
              <a:alpha val="18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ViT-L/14
</a:t>
            </a:r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primary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05456" y="4251960"/>
            <a:ext cx="2011680" cy="566928"/>
          </a:xfrm>
          <a:prstGeom prst="rect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05456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LP
</a:t>
            </a:r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 fine-tuned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26864" y="4251960"/>
            <a:ext cx="2011680" cy="566928"/>
          </a:xfrm>
          <a:prstGeom prst="rect">
            <a:avLst/>
          </a:prstGeom>
          <a:solidFill>
            <a:srgbClr val="FBBF24">
              <a:alpha val="18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DisasterCNN_v1
</a:t>
            </a:r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trained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48272" y="4251960"/>
            <a:ext cx="2011680" cy="566928"/>
          </a:xfrm>
          <a:prstGeom prst="rect">
            <a:avLst/>
          </a:prstGeom>
          <a:solidFill>
            <a:srgbClr val="F87171">
              <a:alpha val="18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Gemini
</a:t>
            </a:r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advisor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CLIP ViT-L/14  (Primary Classifier — A2)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961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1338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ViT-L/14  ·  431M parameters  ·  Zero-shot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17007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Multi-prompt averaging: 6 classes × 4–7 prompts → cosine similarity mean → ×100 temperature scaling → softmax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5054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class probabilities + confidence score (0–1)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310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sets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547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total prompts across 6 classes (7 earthquake, 4 flood, 4 fire, 4 typhoon, 5 landslide, 4 other)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92040" y="822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Disaster Classes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92040" y="1188720"/>
            <a:ext cx="3840480" cy="457200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188720"/>
            <a:ext cx="64008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地震或建築損壞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Earthquake Damage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1700784"/>
            <a:ext cx="3840480" cy="45720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700784"/>
            <a:ext cx="64008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7007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淹水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212848"/>
            <a:ext cx="3840480" cy="457200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212848"/>
            <a:ext cx="64008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火災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724912"/>
            <a:ext cx="3840480" cy="457200"/>
          </a:xfrm>
          <a:prstGeom prst="rect">
            <a:avLst/>
          </a:prstGeom>
          <a:solidFill>
            <a:srgbClr val="C084FC">
              <a:alpha val="1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724912"/>
            <a:ext cx="64008" cy="4572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724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颱風或強風災損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Typhoon / Storm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236976"/>
            <a:ext cx="3840480" cy="457200"/>
          </a:xfrm>
          <a:prstGeom prst="rect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236976"/>
            <a:ext cx="64008" cy="457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236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土石流或坍方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Landslide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3749040"/>
            <a:ext cx="3840480" cy="457200"/>
          </a:xfrm>
          <a:prstGeom prst="rect">
            <a:avLst/>
          </a:prstGeom>
          <a:solidFill>
            <a:srgbClr val="94A3B8">
              <a:alpha val="12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749040"/>
            <a:ext cx="64008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其他或無明顯災害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/ No Disaster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663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Radford et al. (2021) — Learning Transferable Visual Models From Natural Language Supervision — ICML 2021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2: ResNet50 Linear Probe  (Secondary Classifier — A3)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961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152144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backbone (frozen, ImageNet pretrained)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nn.Linear(2048 → 5)  replacing fc layer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168249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on QCRI/MEDIC  ·  5 classes  ·  90MB weights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lr=1e-3  ·  Batch 32  ·  10 epochs  ·  WeightedRandomSampler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72491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~82–85%  (5-class task)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2552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511296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models/resnet50_linear.pth  (90MB)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5-Class Mapping (MEDIC → CrisisLens)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931920" cy="420624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11887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Damaged_Infrastructure  →  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地震或建築損壞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1664208"/>
            <a:ext cx="3931920" cy="42062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16642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Fire_Disaster  →  </a:t>
            </a:r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139696"/>
            <a:ext cx="3931920" cy="420624"/>
          </a:xfrm>
          <a:prstGeom prst="rect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21396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Land_Disaster  →  </a:t>
            </a:r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土石流或坍方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615184"/>
            <a:ext cx="3931920" cy="420624"/>
          </a:xfrm>
          <a:prstGeom prst="rect">
            <a:avLst/>
          </a:prstGeom>
          <a:solidFill>
            <a:srgbClr val="94A3B8">
              <a:alpha val="12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261518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Non_Damage  →  </a:t>
            </a:r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其他或無明顯災害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3090672"/>
            <a:ext cx="3931920" cy="42062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30906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Water_Disaster  →  </a:t>
            </a:r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淹水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3657600"/>
            <a:ext cx="3931920" cy="841248"/>
          </a:xfrm>
          <a:prstGeom prst="rect">
            <a:avLst/>
          </a:prstGeom>
          <a:solidFill>
            <a:srgbClr val="2D1F0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36576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Note: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Typhoon class (intentional). Typhoon images map to Water_Disaster → model_agreement = 0 → need_review = 1. This educationally demonstrates cross-model class-space mismatch.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He et al. (2016) — Deep Residual Learning for Image Recognition — CVPR 2016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Dual-Model Comparison: model_agreement &amp; need_review  (A4)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377440" cy="658368"/>
          </a:xfrm>
          <a:prstGeom prst="rect">
            <a:avLst/>
          </a:prstGeom>
          <a:solidFill>
            <a:srgbClr val="38BDF8">
              <a:alpha val="18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ViT-L/14
</a:t>
            </a:r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top_class_zh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377440" cy="658368"/>
          </a:xfrm>
          <a:prstGeom prst="rect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LP
</a:t>
            </a:r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top_class_zh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13898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80360" y="18470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1920240" cy="1005840"/>
          </a:xfrm>
          <a:prstGeom prst="rect">
            <a:avLst/>
          </a:prstGeom>
          <a:solidFill>
            <a:srgbClr val="263044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801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Labels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0" y="1444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0" y="1188720"/>
            <a:ext cx="3017520" cy="548640"/>
          </a:xfrm>
          <a:prstGeom prst="rect">
            <a:avLst/>
          </a:prstGeom>
          <a:solidFill>
            <a:srgbClr val="0C1F0C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188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SAME  →  model_agreement = 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0" y="2084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69280" y="1874520"/>
            <a:ext cx="3017520" cy="621792"/>
          </a:xfrm>
          <a:prstGeom prst="rect">
            <a:avLst/>
          </a:prstGeom>
          <a:solidFill>
            <a:srgbClr val="1F0C0C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8745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DIFFERENT  →  model_agreement =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need_review =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need_review = 1  triggered by ANY of: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2743200" cy="822960"/>
          </a:xfrm>
          <a:prstGeom prst="rect">
            <a:avLst/>
          </a:prstGeom>
          <a:solidFill>
            <a:srgbClr val="FBBF24">
              <a:alpha val="14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27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&lt; 0.50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CLIP_LOW_CONF_THRESHOLD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127248"/>
            <a:ext cx="2743200" cy="822960"/>
          </a:xfrm>
          <a:prstGeom prst="rect">
            <a:avLst/>
          </a:prstGeom>
          <a:solidFill>
            <a:srgbClr val="FBBF24">
              <a:alpha val="14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127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 gap &lt; 0.15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CLIP_TOP2_GAP_THRESHOLD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127248"/>
            <a:ext cx="2743200" cy="822960"/>
          </a:xfrm>
          <a:prstGeom prst="rect">
            <a:avLst/>
          </a:prstGeom>
          <a:solidFill>
            <a:srgbClr val="F87171">
              <a:alpha val="14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127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model_agreement = 0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≠ ResNet50 label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096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need_review = 1 reports appear in the Admin Dashboard's 'Need Review' filter and the MLOps monitoring page.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3: DisasterCNN_v1  (Custom-Trained CNN)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4-block CNN  ·  BatchNorm + AdaptiveAvgPool  ·  ~400K params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7739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QCRI/MEDIC  ·  6 classes  ·  WeightedRandomSampler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lr=1e-3  ·  StepLR  ·  5 epochs  ·  Batch 32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2311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68.57%  (6-class task)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1638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models/custom_cnn.pth  (1.5 MB)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6210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8587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auxiliary — 'Custom CNN' mode; CLIP always takes precedence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822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1188720"/>
            <a:ext cx="3840480" cy="347472"/>
          </a:xfrm>
          <a:prstGeom prst="rect">
            <a:avLst/>
          </a:prstGeom>
          <a:solidFill>
            <a:srgbClr val="94A3B8">
              <a:alpha val="10000"/>
            </a:srgbClr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(B, 3, 224, 224)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9344"/>
            <a:ext cx="3840480" cy="347472"/>
          </a:xfrm>
          <a:prstGeom prst="rect">
            <a:avLst/>
          </a:prstGeom>
          <a:solidFill>
            <a:srgbClr val="FBBF24">
              <a:alpha val="1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1: Conv(3→32) → BN → ReLU → MaxPool  [112×112]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1901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029968"/>
            <a:ext cx="3840480" cy="347472"/>
          </a:xfrm>
          <a:prstGeom prst="rect">
            <a:avLst/>
          </a:prstGeom>
          <a:solidFill>
            <a:srgbClr val="FBBF24">
              <a:alpha val="1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2: Conv(32→64) → BN → ReLU → MaxPool  [56×56]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232257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450592"/>
            <a:ext cx="3840480" cy="347472"/>
          </a:xfrm>
          <a:prstGeom prst="rect">
            <a:avLst/>
          </a:prstGeom>
          <a:solidFill>
            <a:srgbClr val="FBBF24">
              <a:alpha val="1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450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3: Conv(64→128) → BN → ReLU → MaxPool  [28×28]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27432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871216"/>
            <a:ext cx="3840480" cy="347472"/>
          </a:xfrm>
          <a:prstGeom prst="rect">
            <a:avLst/>
          </a:prstGeom>
          <a:solidFill>
            <a:srgbClr val="FBBF24">
              <a:alpha val="1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871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4: Conv(128→256) → BN → ReLU → MaxPool  [14×14]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16382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291840"/>
            <a:ext cx="3840480" cy="347472"/>
          </a:xfrm>
          <a:prstGeom prst="rect">
            <a:avLst/>
          </a:prstGeom>
          <a:solidFill>
            <a:srgbClr val="38BDF8">
              <a:alpha val="10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AdaptiveAvgPool(1×1) → Flatten → Dropout(0.3)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35844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712464"/>
            <a:ext cx="3840480" cy="347472"/>
          </a:xfrm>
          <a:prstGeom prst="rect">
            <a:avLst/>
          </a:prstGeom>
          <a:solidFill>
            <a:srgbClr val="4ADE80">
              <a:alpha val="10000"/>
            </a:srgbClr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712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Linear(256 → 6)  →  Softmax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407408"/>
            <a:ext cx="8412480" cy="384048"/>
          </a:xfrm>
          <a:prstGeom prst="rect">
            <a:avLst/>
          </a:prstGeom>
          <a:solidFill>
            <a:srgbClr val="1F15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" y="4407408"/>
            <a:ext cx="8156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Typhoon recall ~48% — expected weakness: MEDIC 'hurricane' imagery ≠ Taiwan typhoon visual patterns (domain gap)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Citizen Disaster Reporting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93192" y="804672"/>
            <a:ext cx="1115568" cy="621792"/>
          </a:xfrm>
          <a:prstGeom prst="rect">
            <a:avLst/>
          </a:prstGeom>
          <a:solidFill>
            <a:srgbClr val="94A3B8">
              <a:alpha val="2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841248"/>
            <a:ext cx="237744" cy="23774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841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3192" y="107899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96926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00200" y="804672"/>
            <a:ext cx="1115568" cy="621792"/>
          </a:xfrm>
          <a:prstGeom prst="rect">
            <a:avLst/>
          </a:prstGeom>
          <a:solidFill>
            <a:srgbClr val="4ADE80">
              <a:alpha val="2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36776" y="841248"/>
            <a:ext cx="237744" cy="23774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36776" y="841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07899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Photo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(EXIF stripped)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15768" y="96926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07208" y="804672"/>
            <a:ext cx="1115568" cy="621792"/>
          </a:xfrm>
          <a:prstGeom prst="rect">
            <a:avLst/>
          </a:prstGeom>
          <a:solidFill>
            <a:srgbClr val="38BDF8">
              <a:alpha val="2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43784" y="841248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43784" y="841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07208" y="107899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Location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22776" y="96926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14216" y="804672"/>
            <a:ext cx="1115568" cy="621792"/>
          </a:xfrm>
          <a:prstGeom prst="rect">
            <a:avLst/>
          </a:prstGeom>
          <a:solidFill>
            <a:srgbClr val="38BDF8">
              <a:alpha val="2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50792" y="841248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841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14216" y="107899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Conditions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29784" y="96926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21224" y="804672"/>
            <a:ext cx="1115568" cy="621792"/>
          </a:xfrm>
          <a:prstGeom prst="rect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841248"/>
            <a:ext cx="237744" cy="23774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841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21224" y="107899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36792" y="96926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28232" y="804672"/>
            <a:ext cx="1115568" cy="621792"/>
          </a:xfrm>
          <a:prstGeom prst="rect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64808" y="841248"/>
            <a:ext cx="237744" cy="23774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841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28232" y="107899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43800" y="96926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35240" y="804672"/>
            <a:ext cx="1115568" cy="621792"/>
          </a:xfrm>
          <a:prstGeom prst="rect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71816" y="841248"/>
            <a:ext cx="237744" cy="23774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71816" y="841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107899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1591056"/>
            <a:ext cx="4206240" cy="2633472"/>
          </a:xfrm>
          <a:prstGeom prst="rect">
            <a:avLst/>
          </a:prstGeom>
          <a:solidFill>
            <a:srgbClr val="1E293B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does (Step 5)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1975104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ViT-L/14 classification → Top-3 probabilities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secondary classification (if mode selected)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model_agreement computation (label comparison)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 gap &amp; confidence threshold checks → need_review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FAISS retrieval → Gemini 2.0 Flash advisory generation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guard: keyword → Gemini safety API → ShieldGemma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1591056"/>
            <a:ext cx="4114800" cy="2633472"/>
          </a:xfrm>
          <a:prstGeom prst="rect">
            <a:avLst/>
          </a:prstGeom>
          <a:solidFill>
            <a:srgbClr val="1E293B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system does (Step 7)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1975104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check: max 10 reports/hour/user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EXIF-stripped image stored (Azure Blob / local)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aggregation v4: disaster type + location + time window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grid_summary updated (res 9 / district / city fallback)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model_runs record written: all 7 version strings logged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Score calculated: Severity×0.5 + Vuln×0.3 + Cred×0.2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Admin Dashboard &amp; Event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04672"/>
            <a:ext cx="4160520" cy="310896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32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Dashboard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1887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Score sorting (High/Medium/Low)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type · city · status filters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Review filter checkbox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stat cards incl. need_review count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status update buttons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804672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804672"/>
            <a:ext cx="4160520" cy="310896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832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Detail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18888" y="11887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Per-report photos + AI predictions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labels (input_safety / output_safety)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Corrections form → admin_corrections table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need_review badges per report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confidence breakdown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852928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52928"/>
            <a:ext cx="4160520" cy="310896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Score Formula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236976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Severity × 0.50 + Vulnerability × 0.30 + Credibility × 0.20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≥ 70  ·  Medium 40–69  ·  Low &lt; 40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injuries, trapped persons, road block, AI confidence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Vulnerability: estimated affected persons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Credibility: report count + model_agreement ratio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852928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52928"/>
            <a:ext cx="4160520" cy="310896"/>
          </a:xfrm>
          <a:prstGeom prst="rect">
            <a:avLst/>
          </a:prstGeom>
          <a:solidFill>
            <a:srgbClr val="F8717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Status Lifecycle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8888" y="3236976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pending_review  →  active  →  resolved  →  archived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transition logged in admin_action_logs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(admin_user · old_value · new_value · reason · timestamp)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events hidden from H3 heatmap by default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H3 Hexagonal Heatmap  (GIS)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Hexagonal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2331720"/>
            <a:ext cx="3474720" cy="502920"/>
          </a:xfrm>
          <a:prstGeom prst="rect">
            <a:avLst/>
          </a:prstGeom>
          <a:solidFill>
            <a:srgbClr val="2DD4BF">
              <a:alpha val="15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331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Res 5 → 7 → 9  (zoom-based)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2944368"/>
            <a:ext cx="3474720" cy="365760"/>
          </a:xfrm>
          <a:prstGeom prst="rect">
            <a:avLst/>
          </a:prstGeom>
          <a:solidFill>
            <a:srgbClr val="2DD4BF">
              <a:alpha val="15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 5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level  (~100km)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364992"/>
            <a:ext cx="3474720" cy="365760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64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 7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Township level  (~10km)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785616"/>
            <a:ext cx="3474720" cy="365760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85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 9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 (~174m)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804672"/>
            <a:ext cx="4663440" cy="713232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80467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Location Fallback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(GPS) → district → city  (no GPS = no heatmap exclusion)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591056"/>
            <a:ext cx="4663440" cy="713232"/>
          </a:xfrm>
          <a:prstGeom prst="rect">
            <a:avLst/>
          </a:prstGeom>
          <a:solidFill>
            <a:srgbClr val="1E293B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2816" y="1591056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Zoom-Based Resolution Switching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zoom level determines which H3 resolution layer is active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377440"/>
            <a:ext cx="4663440" cy="713232"/>
          </a:xfrm>
          <a:prstGeom prst="rect">
            <a:avLst/>
          </a:prstGeom>
          <a:solidFill>
            <a:srgbClr val="1E293B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2377440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Event Filter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toggle: hide/show archived events (default: hide)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163824"/>
            <a:ext cx="4663440" cy="713232"/>
          </a:xfrm>
          <a:prstGeom prst="rect">
            <a:avLst/>
          </a:prstGeom>
          <a:solidFill>
            <a:srgbClr val="1E293B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2816" y="3163824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Tooltip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count · Priority level · Estimated affected persons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3950208"/>
            <a:ext cx="4663440" cy="713232"/>
          </a:xfrm>
          <a:prstGeom prst="rect">
            <a:avLst/>
          </a:prstGeom>
          <a:solidFill>
            <a:srgbClr val="1E293B"/>
          </a:solidFill>
          <a:ln w="15240">
            <a:solidFill>
              <a:srgbClr val="C08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3950208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Hexagons?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topology: equal-distance neighbors in all 6 directions, no edge/corner bias vs. square grids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MLOps Monitoring &amp; Version Tracking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274320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04672"/>
            <a:ext cx="2743200" cy="310896"/>
          </a:xfrm>
          <a:prstGeom prst="rect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32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Tracking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1188720"/>
            <a:ext cx="252374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inference writes to model_runs: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clip-vitl14-v1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resnet50-linear-probe-medic-5class-v1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custom-cnn-medic-6class-v1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faiss-multilingual-minilm-v1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disaster-group-distance-timewindow-v4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svcp-weighted-v2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804672"/>
            <a:ext cx="274320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804672"/>
            <a:ext cx="2743200" cy="310896"/>
          </a:xfrm>
          <a:prstGeom prst="rect">
            <a:avLst/>
          </a:prstGeom>
          <a:solidFill>
            <a:srgbClr val="C084FC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832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Corrections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10128" y="1188720"/>
            <a:ext cx="252374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labels in admin_corrections: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corrected_by  ·  report_id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original_value  →  corrected_value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correction_reason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used_for_retraining flag (0/1)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MLOps page: pending vs. used counts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804672"/>
            <a:ext cx="265176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804672"/>
            <a:ext cx="2651760" cy="310896"/>
          </a:xfrm>
          <a:prstGeom prst="rect">
            <a:avLst/>
          </a:prstGeom>
          <a:solidFill>
            <a:srgbClr val="FBBF24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832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Signals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6208" y="1188720"/>
            <a:ext cx="243230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conditions: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need_review rate &gt; 30%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100 consecutive reports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model_agreement rate &lt; 60%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any 7-day window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4416552"/>
            <a:ext cx="2651760" cy="384048"/>
          </a:xfrm>
          <a:prstGeom prst="rect">
            <a:avLst/>
          </a:prstGeom>
          <a:solidFill>
            <a:srgbClr val="1F18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441655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need_review &gt; 30%  →  Retrain!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46451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UI: pages/6_MLOps.py — 3 tabs:  Model Runs  |  Admin Corrections  |  Need Review Reports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Data Card  (MLSecOps Workshop 1 Format)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804672"/>
            <a:ext cx="283464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804672"/>
            <a:ext cx="2834640" cy="310896"/>
          </a:xfrm>
          <a:prstGeom prst="rect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32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QCRI/MEDIC 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" y="1188720"/>
            <a:ext cx="257860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~17,600 images (social media)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original → 6 CrisisLens classes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train/val split (seed=42)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WeightedRandomSampler (38% Other)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Bias: Western hemisphere images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gap: hurricane ≠ typhoon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coverage: 2012–2020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Pre-processing: Resize(256) →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CenterCrop(224) → ImageNet norm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804672"/>
            <a:ext cx="283464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804672"/>
            <a:ext cx="2834640" cy="310896"/>
          </a:xfrm>
          <a:prstGeom prst="rect">
            <a:avLst/>
          </a:prstGeom>
          <a:solidFill>
            <a:srgbClr val="4ADE80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832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Data (CrisisLens)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74136" y="1188720"/>
            <a:ext cx="257860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User-submitted disaster photos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city/district metadata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EXIF stripped at upload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disaster_type  ·  clip_confidence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need_review  ·  model_agreement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input/output_safety_label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rag_advice (JSON)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Privacy: GPS coords = High risk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63640" y="804672"/>
            <a:ext cx="283464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804672"/>
            <a:ext cx="2834640" cy="310896"/>
          </a:xfrm>
          <a:prstGeom prst="rect">
            <a:avLst/>
          </a:prstGeom>
          <a:solidFill>
            <a:srgbClr val="FBBF24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832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Knowledge 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91656" y="1188720"/>
            <a:ext cx="257860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SOP documents (zh-TW)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 govt disaster guidelines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earthquake / flood / fire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typhoon / landslide / emergency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Chunk: 400 chars / 80 overlap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Embedding: multilingual MiniLM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(384-dimensional vectors)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Index: FAISS Flat L2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 faiss-minilm-v1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Model Card Summary  (MLSecOps Workshop 1 Format)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 ViT-L/14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ResNet50 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DisasterCNN_v1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classifier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classifier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Auxiliary (standalone)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advisor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pretrained (zero-shot)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 fine-tuned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5-class LP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scratch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6-class full train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KB 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LLM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~25M (frozen)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Qualitative: 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~82–85%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68.57%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Adversarial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Typhoon→Water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(expected)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Typhoon 48%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unavailable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thresholds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model_agreement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→ review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 always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 precedence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fallback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guidelines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 AI Security &amp; Safety Considerations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56032" y="804672"/>
            <a:ext cx="4160520" cy="1901952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56032" y="804672"/>
            <a:ext cx="4160520" cy="292608"/>
          </a:xfrm>
          <a:prstGeom prst="rect">
            <a:avLst/>
          </a:prstGeom>
          <a:solidFill>
            <a:srgbClr val="F8717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Adversarial Attacks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39319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Threat: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FGSM/PGD pixel perturbations fool CLIP/ResNet50 into classifying real disasters as 'No Disaster'
</a:t>
            </a:r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Defence: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Dual-model agreement: attacker must fool BOTH independently-trained models simultaneously. Confidence threshold + Top-2 gap → need_review pipeline.
</a:t>
            </a:r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Ref: </a:t>
            </a:r>
            <a:pPr indent="0" marL="0">
              <a:spcAft>
                <a:spcPts val="4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 2015 (FGSM); Madry 2018 (PGD)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81728" y="804672"/>
            <a:ext cx="4160520" cy="1901952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81728" y="804672"/>
            <a:ext cx="4160520" cy="292608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822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RAG Poisoning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91456" y="1152144"/>
            <a:ext cx="39319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Threat: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document injection into FAISS KB → Gemini generates harmful evacuation advice
</a:t>
            </a:r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Defence: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Static, version-controlled SOPs (6 files, admin-only rebuild). Index version logged in every model_runs record. Mandatory non-reliance disclaimer on all output.
</a:t>
            </a:r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Ref: </a:t>
            </a:r>
            <a:pPr indent="0" marL="0">
              <a:spcAft>
                <a:spcPts val="4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Zou 2024; Greshake 2023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2788920"/>
            <a:ext cx="4160520" cy="1901952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788920"/>
            <a:ext cx="4160520" cy="292608"/>
          </a:xfrm>
          <a:prstGeom prst="rect">
            <a:avLst/>
          </a:prstGeom>
          <a:solidFill>
            <a:srgbClr val="C084FC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07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Prompt Injection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136392"/>
            <a:ext cx="39319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Threat: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disaster description text hijacks Gemini 2.0 Flash output via embedded instructions
</a:t>
            </a:r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Defence: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ShieldGemma guard: keyword filter → Gemini safety API → local ShieldGemma model. User text in &lt;user_report&gt; block, not instruction block. Rate limit: 10 reports/hr.
</a:t>
            </a:r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Ref: </a:t>
            </a:r>
            <a:pPr indent="0" marL="0">
              <a:spcAft>
                <a:spcPts val="4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Perez &amp; Ribeiro 2022; Branch et al. 2022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81728" y="2788920"/>
            <a:ext cx="4160520" cy="1901952"/>
          </a:xfrm>
          <a:prstGeom prst="rect">
            <a:avLst/>
          </a:prstGeom>
          <a:solidFill>
            <a:srgbClr val="1E293B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2788920"/>
            <a:ext cx="4160520" cy="292608"/>
          </a:xfrm>
          <a:prstGeom prst="rect">
            <a:avLst/>
          </a:prstGeom>
          <a:solidFill>
            <a:srgbClr val="2DD4B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807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EXIF GPS Leakage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91456" y="3136392"/>
            <a:ext cx="39319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Threat: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EXIF GPS tags expose reporter's precise home/workplace coordinates to unauthorized parties
</a:t>
            </a:r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Defence: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strip_exif() in utils/image_utils.py: pixel-level PIL Image rebuild. Zero EXIF in database or Azure Blob. Called unconditionally in load_image() before analysis or storage.
</a:t>
            </a:r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Ref: </a:t>
            </a:r>
            <a:pPr indent="0" marL="0">
              <a:spcAft>
                <a:spcPts val="4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Art. 4(1) — location = personal data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Demo — Key UI Pages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804672"/>
            <a:ext cx="4206240" cy="129844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804672"/>
            <a:ext cx="54864" cy="12984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896112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Portal
</a:t>
            </a:r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photo · AI Analyse · Select model (CLIP / ResNet50 / CNN)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location · Disaster conditions · Rate-limited submit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804672"/>
            <a:ext cx="4206240" cy="129844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804672"/>
            <a:ext cx="54864" cy="12984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752" y="896112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
</a:t>
            </a:r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 — sidebar mode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vs ResNet50 side-by-side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model_agreement badge · need_review badge · Top-2 gap display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212848"/>
            <a:ext cx="4206240" cy="1298448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12848"/>
            <a:ext cx="54864" cy="12984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304288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Dashboard
</a:t>
            </a:r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pages/2_Event_Dashboard.py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Priority-sorted event cards · 4 stat counters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Review filter · Disaster type / city / status filters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212848"/>
            <a:ext cx="4206240" cy="1298448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212848"/>
            <a:ext cx="54864" cy="12984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304288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Detail
</a:t>
            </a:r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pages/3_Event_Detail.py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Per-report photos + Top-3 predictions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labels · Admin Corrections form · need_review badges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621024"/>
            <a:ext cx="4206240" cy="1298448"/>
          </a:xfrm>
          <a:prstGeom prst="rect">
            <a:avLst/>
          </a:prstGeom>
          <a:solidFill>
            <a:srgbClr val="1E293B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621024"/>
            <a:ext cx="54864" cy="12984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712464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Heatmap
</a:t>
            </a:r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pages/4_H3_Heatmap.py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hexagonal map over Taiwan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Zoom-based res switching · Resolved event toggle · Tooltips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621024"/>
            <a:ext cx="4206240" cy="1298448"/>
          </a:xfrm>
          <a:prstGeom prst="rect">
            <a:avLst/>
          </a:prstGeom>
          <a:solidFill>
            <a:srgbClr val="1E293B"/>
          </a:solidFill>
          <a:ln w="1905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621024"/>
            <a:ext cx="54864" cy="129844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712464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Dashboard
</a:t>
            </a:r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pages/6_MLOps.py
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tabs: Model Runs · Admin Corrections · Need Review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tracking · Retraining signals · need_review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CrisisLens v2.0  |  SDG + NN Final Project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52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3-model NN pipeline: CLIP + ResNet50 + DisasterCNN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5453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advisory: FAISS + Gemini 2.0 Flash + fallback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aggregation v4: type + location + time window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multi-scale heatmap (Res 5/7/9 zoom switching)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7249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version tracking (model_runs + admin_corrections)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1181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AI security mitigations implemented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5112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Card + Model Card (MLSecOps Workshop 1 format)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9044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EXIF GPS stripping at point of upload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297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Corrections → retraining data pipeline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152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adversarial evaluation (AutoAttack / certified defence)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5453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Taiwan-specific fine-tuning dataset collection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938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video stream classification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retraining CI/CD pipeline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724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disaster classification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1181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 for privacy-preserving fine-tuning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5112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 + automated pytest coverage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4645152"/>
            <a:ext cx="6400800" cy="310896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6451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11 + SDG 13  |  CrisisLens v2.0  |  CLIP + ResNet50 + RAG + H3 + MLOps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CrisisLens v2.0 — Final Report</dc:title>
  <dc:subject>PptxGenJS Presentation</dc:subject>
  <dc:creator>CrisisLens Team</dc:creator>
  <cp:lastModifiedBy>CrisisLens Team</cp:lastModifiedBy>
  <cp:revision>1</cp:revision>
  <dcterms:created xsi:type="dcterms:W3CDTF">2026-06-10T17:03:58Z</dcterms:created>
  <dcterms:modified xsi:type="dcterms:W3CDTF">2026-06-10T17:03:58Z</dcterms:modified>
</cp:coreProperties>
</file>